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8" r:id="rId10"/>
    <p:sldId id="269" r:id="rId11"/>
    <p:sldId id="270" r:id="rId12"/>
    <p:sldId id="275" r:id="rId13"/>
    <p:sldId id="276" r:id="rId14"/>
    <p:sldId id="277" r:id="rId15"/>
    <p:sldId id="264" r:id="rId16"/>
    <p:sldId id="265" r:id="rId17"/>
    <p:sldId id="266" r:id="rId18"/>
    <p:sldId id="278" r:id="rId19"/>
    <p:sldId id="279" r:id="rId20"/>
    <p:sldId id="280" r:id="rId21"/>
    <p:sldId id="272" r:id="rId22"/>
    <p:sldId id="273" r:id="rId23"/>
    <p:sldId id="274" r:id="rId24"/>
    <p:sldId id="281" r:id="rId25"/>
    <p:sldId id="282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1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0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2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6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8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2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9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A5F17-B744-4AEF-904D-30AA870CD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33C1E-0620-4AD0-BE8B-8F879F78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Basic Idea of ANN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Artificial Neural Network (ANN) is a computational model inspired by the human brain. </a:t>
            </a:r>
          </a:p>
          <a:p>
            <a:r>
              <a:rPr lang="en-US" dirty="0" smtClean="0"/>
              <a:t>It consists of interconnected processing units called </a:t>
            </a:r>
            <a:r>
              <a:rPr lang="en-US" b="1" dirty="0" smtClean="0"/>
              <a:t>neurons</a:t>
            </a:r>
            <a:r>
              <a:rPr lang="en-US" dirty="0" smtClean="0"/>
              <a:t>, which work together to learn patterns from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14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Comic Sans MS" panose="030F0702030302020204" pitchFamily="66" charset="0"/>
              </a:rPr>
              <a:t>The ANN algorithm works in two main phases:</a:t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068763"/>
          </a:xfrm>
        </p:spPr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>
                <a:latin typeface="Comic Sans MS" panose="030F0702030302020204" pitchFamily="66" charset="0"/>
              </a:rPr>
              <a:t>Forward Propagation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b="1" dirty="0" smtClean="0">
                <a:latin typeface="Comic Sans MS" panose="030F0702030302020204" pitchFamily="66" charset="0"/>
              </a:rPr>
              <a:t>Backward Propagation (Training)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0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anose="030F0702030302020204" pitchFamily="66" charset="0"/>
              </a:rPr>
              <a:t>Structure of ANN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smtClean="0">
                <a:latin typeface="Comic Sans MS" panose="030F0702030302020204" pitchFamily="66" charset="0"/>
              </a:rPr>
              <a:t>An ANN consists of:</a:t>
            </a:r>
          </a:p>
          <a:p>
            <a:r>
              <a:rPr lang="en-US" sz="2800" b="1" dirty="0" smtClean="0">
                <a:latin typeface="Comic Sans MS" panose="030F0702030302020204" pitchFamily="66" charset="0"/>
              </a:rPr>
              <a:t>Input Layer</a:t>
            </a:r>
            <a:endParaRPr lang="en-US" sz="2800" dirty="0" smtClean="0">
              <a:latin typeface="Comic Sans MS" panose="030F0702030302020204" pitchFamily="66" charset="0"/>
            </a:endParaRPr>
          </a:p>
          <a:p>
            <a:r>
              <a:rPr lang="en-US" sz="2800" b="1" dirty="0" smtClean="0">
                <a:latin typeface="Comic Sans MS" panose="030F0702030302020204" pitchFamily="66" charset="0"/>
              </a:rPr>
              <a:t>Hidden Layer(s)</a:t>
            </a:r>
            <a:endParaRPr lang="en-US" sz="2800" dirty="0" smtClean="0">
              <a:latin typeface="Comic Sans MS" panose="030F0702030302020204" pitchFamily="66" charset="0"/>
            </a:endParaRPr>
          </a:p>
          <a:p>
            <a:r>
              <a:rPr lang="en-US" sz="2800" b="1" dirty="0" smtClean="0">
                <a:latin typeface="Comic Sans MS" panose="030F0702030302020204" pitchFamily="66" charset="0"/>
              </a:rPr>
              <a:t>Output Layer</a:t>
            </a:r>
            <a:endParaRPr lang="en-US" sz="2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Each layer contains neurons connected by </a:t>
            </a:r>
            <a:r>
              <a:rPr lang="en-US" b="1" dirty="0" smtClean="0">
                <a:latin typeface="Comic Sans MS" panose="030F0702030302020204" pitchFamily="66" charset="0"/>
              </a:rPr>
              <a:t>weights</a:t>
            </a:r>
            <a:r>
              <a:rPr lang="en-US" dirty="0" smtClean="0">
                <a:latin typeface="Comic Sans MS" panose="030F0702030302020204" pitchFamily="66" charset="0"/>
              </a:rPr>
              <a:t>.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Mathematical Model of a Neuron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Each neuron performs the following computation: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881313"/>
            <a:ext cx="4245450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30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572218"/>
              </p:ext>
            </p:extLst>
          </p:nvPr>
        </p:nvGraphicFramePr>
        <p:xfrm>
          <a:off x="457200" y="228599"/>
          <a:ext cx="8458200" cy="6477000"/>
        </p:xfrm>
        <a:graphic>
          <a:graphicData uri="http://schemas.openxmlformats.org/drawingml/2006/table">
            <a:tbl>
              <a:tblPr/>
              <a:tblGrid>
                <a:gridCol w="4110527"/>
                <a:gridCol w="4347673"/>
              </a:tblGrid>
              <a:tr h="809625">
                <a:tc>
                  <a:txBody>
                    <a:bodyPr/>
                    <a:lstStyle/>
                    <a:p>
                      <a:r>
                        <a:rPr lang="en-US" sz="3200" b="1" dirty="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(</a:t>
                      </a:r>
                      <a:r>
                        <a:rPr lang="en-US" dirty="0" err="1" smtClean="0">
                          <a:latin typeface="Comic Sans MS" panose="030F0702030302020204" pitchFamily="66" charset="0"/>
                        </a:rPr>
                        <a:t>x_i</a:t>
                      </a:r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)</a:t>
                      </a:r>
                      <a:endParaRPr lang="en-US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Input feature (e.g., age, salary, pixel value)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</a:t>
                      </a:r>
                      <a:r>
                        <a:rPr lang="en-US" dirty="0" err="1">
                          <a:latin typeface="Comic Sans MS" panose="030F0702030302020204" pitchFamily="66" charset="0"/>
                        </a:rPr>
                        <a:t>w_i</a:t>
                      </a:r>
                      <a:r>
                        <a:rPr lang="en-US" dirty="0">
                          <a:latin typeface="Comic Sans MS" panose="030F0702030302020204" pitchFamily="66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Weight associated with input (x_i)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Number of input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Bias term (shifts activation function)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(z)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Weighted sum of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</a:t>
                      </a:r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f(z))</a:t>
                      </a:r>
                      <a:endParaRPr lang="en-US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Activation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Output of the neuron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63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Forward Propagation (Prediction Phase)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Input data x=(x1,x2,...,</a:t>
            </a:r>
            <a:r>
              <a:rPr lang="en-US" dirty="0" err="1" smtClean="0"/>
              <a:t>xn</a:t>
            </a:r>
            <a:r>
              <a:rPr lang="en-US" dirty="0" smtClean="0"/>
              <a:t>)x is given to the input layer</a:t>
            </a:r>
          </a:p>
          <a:p>
            <a:r>
              <a:rPr lang="en-US" dirty="0" smtClean="0"/>
              <a:t>Each neuron calculates weighted sum:</a:t>
            </a:r>
          </a:p>
          <a:p>
            <a:r>
              <a:rPr lang="en-US" dirty="0" smtClean="0"/>
              <a:t>z=∑</a:t>
            </a:r>
            <a:r>
              <a:rPr lang="en-US" dirty="0" err="1" smtClean="0"/>
              <a:t>wi</a:t>
            </a:r>
            <a:r>
              <a:rPr lang="en-US" dirty="0" smtClean="0"/>
              <a:t>​xi​+b Activation function is applied:</a:t>
            </a:r>
          </a:p>
          <a:p>
            <a:r>
              <a:rPr lang="en-US" dirty="0"/>
              <a:t>Y</a:t>
            </a:r>
            <a:r>
              <a:rPr lang="en-US" dirty="0" smtClean="0"/>
              <a:t>=f(z) The output of one layer becomes input to the next layer</a:t>
            </a:r>
          </a:p>
          <a:p>
            <a:r>
              <a:rPr lang="en-US" dirty="0" smtClean="0"/>
              <a:t>Final layer produces predicted output 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r>
              <a:rPr lang="en-US" dirty="0" smtClean="0"/>
              <a:t>Common Activation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867400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activation function is also called the transfer function.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is mathematical formulae that determine the output of processing nodes.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transforms inputs in to outputs.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They introduce a degree of nonlinearity that is valuable for most ANN applications, which governs the relationship between inputs and outputs of a node and a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 single neuron with two inputs. Each input is weighted with an appropriate w.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sum of the weighted inputs and the bias forms the input to the transfer function f.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Neurons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can use any differentiable transfer function f to generate their output.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0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activation function is characterized by its shape, output range, and derivative function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general, activation functions can be categorized as binary or continuous (differentiable) activation functions.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5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different types of activation functions,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two types are threshold function and sigmoid function.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commonly used activation function are: Tan-Sigmoid, Log-Sigmoid and linear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purelin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activation function, ramp and Gaussian function. See below figure.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9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Activation Function cont.</a:t>
            </a:r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2905125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3200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26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Threshold Function: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engineering, this form of a threshold function is commonly referred to as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Heaviside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function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3449290"/>
            <a:ext cx="3810000" cy="1469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775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Activation Function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B. Sigmoid Function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sigmoid function, whose graph is “S”-shaped, is by far the most common form of activation function used in the construction of neural networks.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defined as a strictly increasing function that exhibits a graceful balance between linear and nonlinear behavior.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 example of the sigmoid function is the logistic function defined by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7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97" y="2895600"/>
            <a:ext cx="3298765" cy="1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153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omic Sans MS" panose="030F0702030302020204" pitchFamily="66" charset="0"/>
              </a:rPr>
              <a:t>Loss (Error) Calculation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612839"/>
          </a:xfrm>
        </p:spPr>
        <p:txBody>
          <a:bodyPr/>
          <a:lstStyle/>
          <a:p>
            <a:r>
              <a:rPr lang="en-US" dirty="0" smtClean="0"/>
              <a:t>The difference between </a:t>
            </a:r>
            <a:r>
              <a:rPr lang="en-US" b="1" dirty="0" smtClean="0"/>
              <a:t>actual output</a:t>
            </a:r>
            <a:r>
              <a:rPr lang="en-US" dirty="0" smtClean="0"/>
              <a:t> and </a:t>
            </a:r>
            <a:r>
              <a:rPr lang="en-US" b="1" dirty="0" smtClean="0"/>
              <a:t>predicted output</a:t>
            </a:r>
            <a:r>
              <a:rPr lang="en-US" dirty="0" smtClean="0"/>
              <a:t> is measured using a </a:t>
            </a:r>
            <a:r>
              <a:rPr lang="en-US" b="1" dirty="0" smtClean="0"/>
              <a:t>loss function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12888"/>
              </p:ext>
            </p:extLst>
          </p:nvPr>
        </p:nvGraphicFramePr>
        <p:xfrm>
          <a:off x="381000" y="2209800"/>
          <a:ext cx="8610600" cy="4213714"/>
        </p:xfrm>
        <a:graphic>
          <a:graphicData uri="http://schemas.openxmlformats.org/drawingml/2006/table">
            <a:tbl>
              <a:tblPr/>
              <a:tblGrid>
                <a:gridCol w="2870200"/>
                <a:gridCol w="2870200"/>
                <a:gridCol w="2870200"/>
              </a:tblGrid>
              <a:tr h="1123657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omic Sans MS" panose="030F0702030302020204" pitchFamily="66" charset="0"/>
                        </a:rPr>
                        <a:t>Loss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omic Sans MS" panose="030F0702030302020204" pitchFamily="66" charset="0"/>
                        </a:rPr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omic Sans MS" panose="030F0702030302020204" pitchFamily="66" charset="0"/>
                        </a:rPr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3657"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Mean Squared Error (MSE)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 (y </a:t>
                      </a:r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–Y^)^</a:t>
                      </a:r>
                      <a:r>
                        <a:rPr lang="en-US" dirty="0">
                          <a:latin typeface="Comic Sans MS" panose="030F0702030302020204" pitchFamily="66" charset="0"/>
                        </a:rPr>
                        <a:t>2 )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6400"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Binary Cross-Entropy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s-ES" dirty="0" smtClean="0">
                        <a:latin typeface="Comic Sans MS" panose="030F0702030302020204" pitchFamily="66" charset="0"/>
                      </a:endParaRPr>
                    </a:p>
                    <a:p>
                      <a:endParaRPr lang="es-ES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     Binary </a:t>
                      </a:r>
                      <a:r>
                        <a:rPr lang="en-US" dirty="0">
                          <a:latin typeface="Comic Sans MS" panose="030F0702030302020204" pitchFamily="66" charset="0"/>
                        </a:rPr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5105400"/>
            <a:ext cx="2938639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367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084095"/>
              </p:ext>
            </p:extLst>
          </p:nvPr>
        </p:nvGraphicFramePr>
        <p:xfrm>
          <a:off x="381000" y="1828800"/>
          <a:ext cx="8534400" cy="3657600"/>
        </p:xfrm>
        <a:graphic>
          <a:graphicData uri="http://schemas.openxmlformats.org/drawingml/2006/table">
            <a:tbl>
              <a:tblPr/>
              <a:tblGrid>
                <a:gridCol w="4267200"/>
                <a:gridCol w="426720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mic Sans MS" panose="030F0702030302020204" pitchFamily="66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True (actual)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mic Sans MS" panose="030F0702030302020204" pitchFamily="66" charset="0"/>
                        </a:rPr>
                        <a:t>(y^)</a:t>
                      </a:r>
                      <a:endParaRPr lang="en-US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Predicted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(L)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mic Sans MS" panose="030F0702030302020204" pitchFamily="66" charset="0"/>
                        </a:rPr>
                        <a:t>Loss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26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= (2, 3)= (x1,x2)</a:t>
            </a:r>
          </a:p>
          <a:p>
            <a:r>
              <a:rPr lang="en-US" dirty="0" smtClean="0"/>
              <a:t>Weights = (0.4, 0.6) = (w1,w2)</a:t>
            </a:r>
          </a:p>
          <a:p>
            <a:r>
              <a:rPr lang="en-US" dirty="0" smtClean="0"/>
              <a:t>Bias = 0.1</a:t>
            </a:r>
          </a:p>
          <a:p>
            <a:endParaRPr lang="en-US" dirty="0"/>
          </a:p>
          <a:p>
            <a:r>
              <a:rPr lang="en-US" dirty="0" smtClean="0"/>
              <a:t>z=(2×0.4)+(3×0.6)+0.1=2.7</a:t>
            </a:r>
          </a:p>
          <a:p>
            <a:pPr marL="0" indent="0">
              <a:buNone/>
            </a:pPr>
            <a:r>
              <a:rPr lang="en-US" dirty="0" smtClean="0"/>
              <a:t>Using </a:t>
            </a:r>
            <a:r>
              <a:rPr lang="en-US" dirty="0" err="1" smtClean="0"/>
              <a:t>ReLU:y</a:t>
            </a:r>
            <a:r>
              <a:rPr lang="en-US" smtClean="0"/>
              <a:t>=max(0,2.7)=2.7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609600"/>
            <a:ext cx="8724900" cy="6172200"/>
          </a:xfrm>
        </p:spPr>
        <p:txBody>
          <a:bodyPr/>
          <a:lstStyle/>
          <a:p>
            <a:r>
              <a:rPr lang="en-US" dirty="0" smtClean="0"/>
              <a:t>Given</a:t>
            </a:r>
          </a:p>
          <a:p>
            <a:r>
              <a:rPr lang="en-US" dirty="0" smtClean="0"/>
              <a:t>W1=0.4          x1=1</a:t>
            </a:r>
          </a:p>
          <a:p>
            <a:r>
              <a:rPr lang="en-US" dirty="0" smtClean="0"/>
              <a:t>W2=0.6           x2=0</a:t>
            </a:r>
          </a:p>
          <a:p>
            <a:r>
              <a:rPr lang="en-US" dirty="0" smtClean="0"/>
              <a:t>Actual out put=1</a:t>
            </a:r>
          </a:p>
          <a:p>
            <a:r>
              <a:rPr lang="en-US" b="1" dirty="0"/>
              <a:t>Activation Function</a:t>
            </a:r>
          </a:p>
          <a:p>
            <a:r>
              <a:rPr lang="en-US" b="1" dirty="0" smtClean="0"/>
              <a:t>Sigmoid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 smtClean="0"/>
              <a:t>Calculate </a:t>
            </a:r>
            <a:r>
              <a:rPr lang="en-US" dirty="0"/>
              <a:t>Weighted Sum (Net Input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36" y="2819400"/>
            <a:ext cx="2971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724400"/>
            <a:ext cx="3401291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5764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Apply Sigmoid </a:t>
            </a:r>
            <a:r>
              <a:rPr lang="en-US" dirty="0" smtClean="0"/>
              <a:t>Activation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9" y="1524000"/>
            <a:ext cx="5348979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460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36" y="0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 with Actual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458200" cy="6248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Actual =1</a:t>
            </a:r>
          </a:p>
          <a:p>
            <a:pPr marL="0" indent="0">
              <a:buNone/>
            </a:pPr>
            <a:r>
              <a:rPr lang="en-US" dirty="0" smtClean="0"/>
              <a:t>Predicted output=0.2</a:t>
            </a:r>
          </a:p>
          <a:p>
            <a:pPr marL="0" indent="0">
              <a:buNone/>
            </a:pPr>
            <a:r>
              <a:rPr lang="en-US" dirty="0" smtClean="0"/>
              <a:t>Calculate </a:t>
            </a:r>
            <a:r>
              <a:rPr lang="en-US" dirty="0"/>
              <a:t>Error (MSE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Why This Error Matters</a:t>
            </a:r>
          </a:p>
          <a:p>
            <a:r>
              <a:rPr lang="en-US" dirty="0"/>
              <a:t>Large error → weights need big change</a:t>
            </a:r>
          </a:p>
          <a:p>
            <a:r>
              <a:rPr lang="en-US" dirty="0"/>
              <a:t>Small error → weights need small change</a:t>
            </a:r>
          </a:p>
          <a:p>
            <a:r>
              <a:rPr lang="en-US" dirty="0"/>
              <a:t>Error is used in </a:t>
            </a:r>
            <a:r>
              <a:rPr lang="en-US" b="1" dirty="0"/>
              <a:t>backpropagation</a:t>
            </a:r>
            <a:r>
              <a:rPr lang="en-US" dirty="0"/>
              <a:t> to update:</a:t>
            </a:r>
          </a:p>
          <a:p>
            <a:pPr lvl="1"/>
            <a:r>
              <a:rPr lang="en-US" dirty="0"/>
              <a:t>Weights</a:t>
            </a:r>
          </a:p>
          <a:p>
            <a:pPr lvl="1"/>
            <a:r>
              <a:rPr lang="en-US" dirty="0" smtClean="0"/>
              <a:t>Bias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762000"/>
            <a:ext cx="32956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404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Training an ANN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Design: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Architecture of ANN network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Determines number of network weights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How many layers and nodes per layer?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Structure of artificial neurons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Connectivity and choice of activation (transfer) function </a:t>
            </a:r>
            <a:endParaRPr lang="en-US" dirty="0"/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Training: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Ensuring optimum training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Learning parameters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learning rate, momentum and weight-cost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1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Network Design &amp; Training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preparation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quality of results relates directly to quality of the data(70%).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Consolidation, cleaning, selection and preprocessing and Transformation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General Steps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Get the data set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Determine the network topology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Training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Optimization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Testing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67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Network Design &amp; Training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Learning rate</a:t>
            </a:r>
            <a:r>
              <a:rPr lang="en-US" dirty="0"/>
              <a:t> controls how fast ANN learns</a:t>
            </a:r>
          </a:p>
          <a:p>
            <a:r>
              <a:rPr lang="en-US" b="1" dirty="0"/>
              <a:t>Momentum</a:t>
            </a:r>
            <a:r>
              <a:rPr lang="en-US" dirty="0"/>
              <a:t> smooths learning and speeds convergence</a:t>
            </a:r>
          </a:p>
          <a:p>
            <a:r>
              <a:rPr lang="en-US" b="1" dirty="0"/>
              <a:t>Weight cost</a:t>
            </a:r>
            <a:r>
              <a:rPr lang="en-US" dirty="0"/>
              <a:t> prevents overfitting by penalizing large weights</a:t>
            </a:r>
          </a:p>
          <a:p>
            <a:r>
              <a:rPr lang="en-US" dirty="0"/>
              <a:t>Proper selection ensures:</a:t>
            </a:r>
          </a:p>
          <a:p>
            <a:r>
              <a:rPr lang="en-US" dirty="0"/>
              <a:t>Fast convergence</a:t>
            </a:r>
          </a:p>
          <a:p>
            <a:r>
              <a:rPr lang="en-US" dirty="0"/>
              <a:t>Stable training</a:t>
            </a:r>
          </a:p>
          <a:p>
            <a:r>
              <a:rPr lang="en-US" dirty="0"/>
              <a:t>Good generalization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12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Performance Testing Parameters in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training an ANN, we evaluate it using </a:t>
            </a:r>
            <a:r>
              <a:rPr lang="en-US" b="1" dirty="0"/>
              <a:t>performance metrics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metrics depend on whether the task is </a:t>
            </a:r>
            <a:r>
              <a:rPr lang="en-US" b="1" dirty="0"/>
              <a:t>classification</a:t>
            </a:r>
            <a:r>
              <a:rPr lang="en-US" dirty="0"/>
              <a:t> or </a:t>
            </a:r>
            <a:r>
              <a:rPr lang="en-US" b="1" dirty="0"/>
              <a:t>regression</a:t>
            </a:r>
            <a:r>
              <a:rPr lang="en-US" dirty="0" smtClean="0"/>
              <a:t>.</a:t>
            </a:r>
          </a:p>
          <a:p>
            <a:r>
              <a:rPr lang="en-US" dirty="0"/>
              <a:t>1Accuracy_Accuracy measures the </a:t>
            </a:r>
            <a:r>
              <a:rPr lang="en-US" b="1" dirty="0"/>
              <a:t>percentage of correct predictions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Where:</a:t>
            </a:r>
          </a:p>
          <a:p>
            <a:r>
              <a:rPr lang="en-US" b="1" dirty="0"/>
              <a:t>TP</a:t>
            </a:r>
            <a:r>
              <a:rPr lang="en-US" dirty="0"/>
              <a:t> – True Positives</a:t>
            </a:r>
          </a:p>
          <a:p>
            <a:r>
              <a:rPr lang="en-US" b="1" dirty="0"/>
              <a:t>TN</a:t>
            </a:r>
            <a:r>
              <a:rPr lang="en-US" dirty="0"/>
              <a:t> – True Negatives</a:t>
            </a:r>
          </a:p>
          <a:p>
            <a:r>
              <a:rPr lang="en-US" b="1" dirty="0"/>
              <a:t>FP</a:t>
            </a:r>
            <a:r>
              <a:rPr lang="en-US" dirty="0"/>
              <a:t> – False Positives</a:t>
            </a:r>
          </a:p>
          <a:p>
            <a:r>
              <a:rPr lang="en-US" b="1" dirty="0"/>
              <a:t>FN</a:t>
            </a:r>
            <a:r>
              <a:rPr lang="en-US" dirty="0"/>
              <a:t> – False Negatives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505200"/>
            <a:ext cx="28384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673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Testing Parameters in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105400"/>
          </a:xfrm>
        </p:spPr>
        <p:txBody>
          <a:bodyPr>
            <a:normAutofit/>
          </a:bodyPr>
          <a:lstStyle/>
          <a:p>
            <a:r>
              <a:rPr lang="en-US" b="1" dirty="0"/>
              <a:t>Precision</a:t>
            </a:r>
          </a:p>
          <a:p>
            <a:r>
              <a:rPr lang="en-US" dirty="0" smtClean="0"/>
              <a:t>Precision </a:t>
            </a:r>
            <a:r>
              <a:rPr lang="en-US" dirty="0"/>
              <a:t>measures </a:t>
            </a:r>
            <a:r>
              <a:rPr lang="en-US" b="1" dirty="0"/>
              <a:t>how many predicted positives are actually positive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Important </a:t>
            </a:r>
            <a:r>
              <a:rPr lang="en-US" b="1" dirty="0"/>
              <a:t>when</a:t>
            </a:r>
          </a:p>
          <a:p>
            <a:r>
              <a:rPr lang="en-US" dirty="0"/>
              <a:t>False positives are costly (e.g., spam detection)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3028950"/>
            <a:ext cx="4350204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39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Testing Parameters in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r>
              <a:rPr lang="en-US" dirty="0"/>
              <a:t>Recall (Sensitivity</a:t>
            </a:r>
            <a:r>
              <a:rPr lang="en-US" dirty="0" smtClean="0"/>
              <a:t>):</a:t>
            </a:r>
            <a:r>
              <a:rPr lang="en-US" dirty="0" err="1" smtClean="0"/>
              <a:t>mesures</a:t>
            </a:r>
            <a:r>
              <a:rPr lang="en-US" dirty="0" smtClean="0"/>
              <a:t> </a:t>
            </a:r>
            <a:r>
              <a:rPr lang="en-US" b="1" dirty="0"/>
              <a:t>how many actual positives are correctly </a:t>
            </a:r>
            <a:r>
              <a:rPr lang="en-US" b="1" dirty="0" smtClean="0"/>
              <a:t>identified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b="1" dirty="0" smtClean="0"/>
              <a:t>Important </a:t>
            </a:r>
            <a:r>
              <a:rPr lang="en-US" b="1" dirty="0"/>
              <a:t>when</a:t>
            </a:r>
          </a:p>
          <a:p>
            <a:r>
              <a:rPr lang="en-US" dirty="0"/>
              <a:t>Missing a positive is costly (e.g., disease detection)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063" y="2900363"/>
            <a:ext cx="2624137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15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875</Words>
  <Application>Microsoft Office PowerPoint</Application>
  <PresentationFormat>On-screen Show (4:3)</PresentationFormat>
  <Paragraphs>173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Comic Sans MS</vt:lpstr>
      <vt:lpstr>Times New Roman</vt:lpstr>
      <vt:lpstr>Wingdings</vt:lpstr>
      <vt:lpstr>Office Theme</vt:lpstr>
      <vt:lpstr>1. Basic Idea of ANN</vt:lpstr>
      <vt:lpstr> The ANN algorithm works in two main phases: </vt:lpstr>
      <vt:lpstr>Structure of ANN </vt:lpstr>
      <vt:lpstr>Mathematical Model of a Neuron</vt:lpstr>
      <vt:lpstr>PowerPoint Presentation</vt:lpstr>
      <vt:lpstr>Forward Propagation (Prediction Phase)</vt:lpstr>
      <vt:lpstr>Common Activation Functions</vt:lpstr>
      <vt:lpstr>Activation Function </vt:lpstr>
      <vt:lpstr>Activation Function cont.</vt:lpstr>
      <vt:lpstr>Activation Function cont.</vt:lpstr>
      <vt:lpstr>Activation Function cont.</vt:lpstr>
      <vt:lpstr>Activation Function cont.</vt:lpstr>
      <vt:lpstr>Activation Function cont.</vt:lpstr>
      <vt:lpstr>PowerPoint Presentation</vt:lpstr>
      <vt:lpstr>Loss (Error) Calculation</vt:lpstr>
      <vt:lpstr>Variables</vt:lpstr>
      <vt:lpstr>Example</vt:lpstr>
      <vt:lpstr>Example</vt:lpstr>
      <vt:lpstr>Apply Sigmoid Activation</vt:lpstr>
      <vt:lpstr>Compare with Actual Output</vt:lpstr>
      <vt:lpstr>Designing and Training an ANN </vt:lpstr>
      <vt:lpstr>Network Design &amp; Training Issues</vt:lpstr>
      <vt:lpstr>Network Design &amp; Training Issues</vt:lpstr>
      <vt:lpstr>Performance Testing Parameters in ANN</vt:lpstr>
      <vt:lpstr>Performance Testing Parameters in ANN</vt:lpstr>
      <vt:lpstr>Performance Testing Parameters in ANN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frehiwot</dc:creator>
  <cp:lastModifiedBy>Frehiwot</cp:lastModifiedBy>
  <cp:revision>30</cp:revision>
  <dcterms:created xsi:type="dcterms:W3CDTF">2025-12-27T11:54:49Z</dcterms:created>
  <dcterms:modified xsi:type="dcterms:W3CDTF">2026-03-12T11:00:02Z</dcterms:modified>
</cp:coreProperties>
</file>